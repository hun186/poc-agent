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開場請交代舊流程：原本沒有以 Excel 要項建立產情排程的功能。人員逐項閱讀 Excel，在 OpenWebUI 手動寫提示詞，請 SRAF 查詢資料庫，再人工閱讀追問與整理。新專案並非重新開發 SRAF 的檢索能力，而是把既有 AI 查詢能力整合到 Excel 要項輸入、任務排程、執行紀錄與 Word 報告交付的產品流程。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先講清楚舊基準：過去的 SRAF 可由 OpenWebUI 接收人員提示詞，查詢資料庫並回應；原先沒有 Excel 要項自動建立排程的功能。這次做的是新的業務流程和控制平台，而非把既有手動排程電子化。十項 PR 是本波 Product 工作流直接相關之設計與後端開發合併項目，不代表新流程已驗收上線。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重要修正：舊流程並沒有由使用者手動匯入 Excel 後，再手動建立排程。實際上是人自行觀看 Excel，透過 OpenWebUI 一次次寫提示詞呼叫 SRAF，到資料庫找資料；再閱讀、追問、整理結果。未來流程由 Excel 要項輸入，結合既有 SRAF/ES/LLM 工作鏈，自動建立一次性或週期性產情作業，留下紀錄並交付 Word。右欄是目標設計，不表示 API/UI 已上線。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此圖描述未來的端到端產情流程。相較舊流程人工在 OpenWebUI 向 SRAF 詢問，新的 Excel 驅動任務會控制整體處理與排程，仍使用原有 SRAF 工作鏈，不另開發第二套 AI 分析引擎。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投入示例是概念示意，不代表固定欄位、既定資料內容或已上線介面。舊有 Excel 是由人閱讀後在 OpenWebUI 提問；新功能會讓 Excel 成為正式的任務輸入，可查詢產出與執行狀態，而不需一項項人工問答。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管理上可說：節省重複建置成本，避免使用者要再登入另一套平台。更重要是權限與稽核沿用既有政策，維護點不倍增。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主管若問做好哪些，這張是主要答覆。完成欄指已合併到 main 的 Product 功能；右邊所有項目仍需工程與驗收。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區分舊使用情境和先前工程底座。舊使用情境是 OpenWebUI 人工提問 SRAF，不是使用者已經可以手動設定 Excel 排程。9月技術黃金路徑的測試流程也不是新產品介面。十項直接相關 Product PR 主要在 10/6–12 合併；前幾週則在準備技術主幹、驗收、整合設計。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舊模式由人在 OpenWebUI 決定何時提問、如何追問；問題發生時可由人現場介入。新模式由 Excel 內容及排程自動啟動，就必須讓程式自己處理輸入校驗、重試、資料和任務版本衝突、權限以及可追溯性。這是從互動式資料查詢到無人值守產品工作流的工程差距。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要向主管解釋：這些不能直接截圖，但必須先做好，否則日後畫面再完整也可能產出錯誤資料或重複作業。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精確說明今日狀態：P1.7 不是已完成，也不是正式上線。Codex review 在 2026/10/12 對 04c7106 head 留下 P1 race condition finding；修正與重新驗證之後才可合併。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務必強調是概念示意，不是現成畫面。建置時沿用既有 SRA /editor 的登入與導覽，不另造平行系統。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可以向主管報告：後續工作已經拆成四個清楚的交付關口。第一個是當下待修的資料替換；第二個是 API；第三是 UI/安全；第四是從真實輸入到 Word 的驗收。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這一頁不是推卸責任，而是解釋正式交付需要測試條件與可用的資料環境。mapping_incompatible 是歷史尚待解除的 live blocker，不應宣稱已經解決。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效益基準應是原本的人讀 Excel、手寫 OpenWebUI 提示詞、人工回收 SRAF 查詢內容，不是不存在的手動 Excel 排程。先記錄過去每筆要項的人工提問次數及時間；新功能上線後再比較排程準時率、可用報告數、人工介入時數與品質。勿宣稱未量測的節省百分比。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來源主要是現有 Repo；注意 Design/Plan 檔案開頭的實作狀態文字可能尚未隨後續 PR 即時更新，實際完成度以 Hosted PR merged 記錄為準。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un186/poc-agent/pull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un186/poc-agent/blob/main/docs/superpowers/specs/2026-10-01-sra-requirement-product-api-task-center-design-v1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un186/poc-agent/pull/287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hun186/poc-agent/pulls?q=is%3Apr+is%3Aclosed" TargetMode="External"/><Relationship Id="rId2" Type="http://schemas.openxmlformats.org/officeDocument/2006/relationships/hyperlink" Target="https://github.com/hun186/poc-agent/pull/287" TargetMode="External"/><Relationship Id="rId3" Type="http://schemas.openxmlformats.org/officeDocument/2006/relationships/hyperlink" Target="https://github.com/hun186/poc-agent/blob/main/docs/superpowers/specs/2026-10-01-sra-requirement-product-api-task-center-design-v1.md" TargetMode="External"/><Relationship Id="rId4" Type="http://schemas.openxmlformats.org/officeDocument/2006/relationships/hyperlink" Target="https://github.com/hun186/poc-agent/blob/main/docs/superpowers/plans/2026-10-01-sra-requirement-product-api-task-center-plan-v1.md" TargetMode="External"/><Relationship Id="rId5" Type="http://schemas.openxmlformats.org/officeDocument/2006/relationships/hyperlink" Target="https://github.com/hun186/poc-agent/blob/main/.codex/known_issues.md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35516B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EC1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EC1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53728" y="0"/>
            <a:ext cx="2926080" cy="3886200"/>
          </a:xfrm>
          <a:prstGeom prst="roundRect">
            <a:avLst>
              <a:gd name="adj" fmla="val 6875"/>
            </a:avLst>
          </a:prstGeom>
          <a:solidFill>
            <a:srgbClr val="142A42"/>
          </a:solidFill>
          <a:ln w="12700">
            <a:solidFill>
              <a:srgbClr val="142A4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576072"/>
            <a:ext cx="2606040" cy="2606040"/>
          </a:xfrm>
          <a:prstGeom prst="ellipse">
            <a:avLst/>
          </a:prstGeom>
          <a:solidFill>
            <a:srgbClr val="213D59"/>
          </a:solidFill>
          <a:ln w="12700">
            <a:solidFill>
              <a:srgbClr val="213D5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78440" y="1097280"/>
            <a:ext cx="1371600" cy="1371600"/>
          </a:xfrm>
          <a:prstGeom prst="ellipse">
            <a:avLst/>
          </a:prstGeom>
          <a:solidFill>
            <a:srgbClr val="087E79"/>
          </a:solidFill>
          <a:ln w="12700">
            <a:solidFill>
              <a:srgbClr val="087E7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0" y="4434840"/>
            <a:ext cx="3182112" cy="1234440"/>
          </a:xfrm>
          <a:prstGeom prst="roundRect">
            <a:avLst>
              <a:gd name="adj" fmla="val 14815"/>
            </a:avLst>
          </a:prstGeom>
          <a:solidFill>
            <a:srgbClr val="142A42"/>
          </a:solidFill>
          <a:ln w="12700">
            <a:solidFill>
              <a:srgbClr val="142A42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78638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3B7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  專案進度提報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481328"/>
            <a:ext cx="10515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從人工提問 SRAF，</a:t>
            </a:r>
            <a:endParaRPr lang="en-US" sz="3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走向 Excel 自動排程產情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367588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CCD8E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工作成果｜目前開發進度｜下一階段｜導入效益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04088" y="4754880"/>
            <a:ext cx="1143000" cy="384048"/>
          </a:xfrm>
          <a:prstGeom prst="roundRect">
            <a:avLst>
              <a:gd name="adj" fmla="val 28571"/>
            </a:avLst>
          </a:prstGeom>
          <a:solidFill>
            <a:srgbClr val="213D59"/>
          </a:solidFill>
          <a:ln w="12700">
            <a:solidFill>
              <a:srgbClr val="213D5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764024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主管簡報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029968" y="4754880"/>
            <a:ext cx="2542032" cy="384048"/>
          </a:xfrm>
          <a:prstGeom prst="roundRect">
            <a:avLst>
              <a:gd name="adj" fmla="val 28571"/>
            </a:avLst>
          </a:prstGeom>
          <a:solidFill>
            <a:srgbClr val="213D59"/>
          </a:solidFill>
          <a:ln w="12700">
            <a:solidFill>
              <a:srgbClr val="213D59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103120" y="47640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盤點日期：2026 / 10 / 12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603504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DAF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資料依據：Hosted GitHub hun186/poc-agent、專案設計與驗收紀錄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主管先看這張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這幾週做的：將「人工提問 SRAF」轉為「Excel 排程自動產情」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過去由人閱讀 Excel、透過 OpenWebUI 提問；現在補上要項匯入、排程控制與產情報告交付的產品能力。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901952"/>
            <a:ext cx="2660904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58952" y="20848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項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758952" y="276148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#277–#286 已合併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58952" y="304495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設計與後端階段成果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65576" y="1901952"/>
            <a:ext cx="2660904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168" y="20848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P1.7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76148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目前進行中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30168" y="304495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輸入替換與版本衝突控制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36792" y="1901952"/>
            <a:ext cx="2660904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1384" y="20848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種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276148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任務執行模式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01384" y="304495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單次執行／週期性排程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208008" y="1901952"/>
            <a:ext cx="2660904" cy="1499616"/>
          </a:xfrm>
          <a:prstGeom prst="roundRect">
            <a:avLst>
              <a:gd name="adj" fmla="val 914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372600" y="208483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條</a:t>
            </a:r>
            <a:endParaRPr lang="en-US" sz="2700" dirty="0"/>
          </a:p>
        </p:txBody>
      </p:sp>
      <p:sp>
        <p:nvSpPr>
          <p:cNvPr id="22" name="Text 20"/>
          <p:cNvSpPr txBox="1"/>
          <p:nvPr/>
        </p:nvSpPr>
        <p:spPr>
          <a:xfrm>
            <a:off x="9372600" y="276148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共用執行主幹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3044952"/>
            <a:ext cx="2331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延用 Import → Schedule → Agent → DOCX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813048"/>
            <a:ext cx="10991088" cy="1691640"/>
          </a:xfrm>
          <a:prstGeom prst="roundRect">
            <a:avLst>
              <a:gd name="adj" fmla="val 8108"/>
            </a:avLst>
          </a:prstGeom>
          <a:solidFill>
            <a:srgbClr val="101F33"/>
          </a:solidFill>
          <a:ln w="12700">
            <a:solidFill>
              <a:srgbClr val="101F3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9536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現在的準確定位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3447288" y="3977640"/>
            <a:ext cx="0" cy="1280160"/>
          </a:xfrm>
          <a:prstGeom prst="line">
            <a:avLst/>
          </a:prstGeom>
          <a:noFill/>
          <a:ln w="15240">
            <a:solidFill>
              <a:srgbClr val="4C647A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3703320" y="3995928"/>
            <a:ext cx="7406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已完成：後端邏輯與重要安全機制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3703320" y="4507992"/>
            <a:ext cx="7424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7E5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尚未完成：一般使用者的端到端操作體驗，以及正式部署驗收</a:t>
            </a:r>
            <a:endParaRPr lang="en-US" sz="1500" dirty="0"/>
          </a:p>
        </p:txBody>
      </p:sp>
      <p:sp>
        <p:nvSpPr>
          <p:cNvPr id="29" name="Text 27">
            <a:hlinkClick r:id="rId1" tooltip=""/>
          </p:cNvPr>
          <p:cNvSpPr txBox="1"/>
          <p:nvPr/>
        </p:nvSpPr>
        <p:spPr>
          <a:xfrm>
            <a:off x="612648" y="623620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u="sng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依據：GitHub PR #277–#287；截至 2026-10-12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為何要做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原本沒有 Excel 排程：人員逐項在 OpenWebUI 向 SRAF 提問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 SRAF 能依提示詞查詢資料庫；欠缺的是 Excel 要項驅動、定期執行與集中管理的產情流程。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" y="1847088"/>
            <a:ext cx="525780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91072" y="1847088"/>
            <a:ext cx="5257800" cy="3611880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75688"/>
            <a:ext cx="2267712" cy="356616"/>
          </a:xfrm>
          <a:prstGeom prst="roundRect">
            <a:avLst>
              <a:gd name="adj" fmla="val 30769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2084832"/>
            <a:ext cx="21214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9F47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原本：人工逐項提問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65392" y="2075688"/>
            <a:ext cx="2697480" cy="356616"/>
          </a:xfrm>
          <a:prstGeom prst="roundRect">
            <a:avLst>
              <a:gd name="adj" fmla="val 30769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38544" y="2084832"/>
            <a:ext cx="25511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目標：Excel 驅動自動產情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743200"/>
            <a:ext cx="283464" cy="283464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747772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344168" y="2743200"/>
            <a:ext cx="4224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人員自行閱讀 Excel 分析要項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914400" y="3236976"/>
            <a:ext cx="283464" cy="283464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241548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44168" y="3236976"/>
            <a:ext cx="4224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OpenWebUI 手動撰寫提示詞</a:t>
            </a:r>
            <a:endParaRPr lang="en-US" sz="1410" dirty="0"/>
          </a:p>
        </p:txBody>
      </p:sp>
      <p:sp>
        <p:nvSpPr>
          <p:cNvPr id="20" name="Shape 18"/>
          <p:cNvSpPr/>
          <p:nvPr/>
        </p:nvSpPr>
        <p:spPr>
          <a:xfrm>
            <a:off x="914400" y="3730752"/>
            <a:ext cx="283464" cy="283464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735324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44168" y="3730752"/>
            <a:ext cx="4224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SRAF 查詢資料庫資料</a:t>
            </a:r>
            <a:endParaRPr lang="en-US" sz="1410" dirty="0"/>
          </a:p>
        </p:txBody>
      </p:sp>
      <p:sp>
        <p:nvSpPr>
          <p:cNvPr id="23" name="Shape 21"/>
          <p:cNvSpPr/>
          <p:nvPr/>
        </p:nvSpPr>
        <p:spPr>
          <a:xfrm>
            <a:off x="914400" y="4224528"/>
            <a:ext cx="283464" cy="283464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229100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344168" y="4224528"/>
            <a:ext cx="4224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閱讀答覆，依需求追問與調整</a:t>
            </a:r>
            <a:endParaRPr lang="en-US" sz="1410" dirty="0"/>
          </a:p>
        </p:txBody>
      </p:sp>
      <p:sp>
        <p:nvSpPr>
          <p:cNvPr id="26" name="Shape 24"/>
          <p:cNvSpPr/>
          <p:nvPr/>
        </p:nvSpPr>
        <p:spPr>
          <a:xfrm>
            <a:off x="914400" y="4718304"/>
            <a:ext cx="283464" cy="283464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4722876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344168" y="4718304"/>
            <a:ext cx="4224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自行整理結果；無 Excel 排程功能</a:t>
            </a:r>
            <a:endParaRPr lang="en-US" sz="1410" dirty="0"/>
          </a:p>
        </p:txBody>
      </p:sp>
      <p:sp>
        <p:nvSpPr>
          <p:cNvPr id="29" name="Shape 27"/>
          <p:cNvSpPr/>
          <p:nvPr/>
        </p:nvSpPr>
        <p:spPr>
          <a:xfrm>
            <a:off x="6629400" y="2743200"/>
            <a:ext cx="283464" cy="28346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2747772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059168" y="2743200"/>
            <a:ext cx="4178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 Excel／外部系統送入要項</a:t>
            </a:r>
            <a:endParaRPr lang="en-US" sz="1410" dirty="0"/>
          </a:p>
        </p:txBody>
      </p:sp>
      <p:sp>
        <p:nvSpPr>
          <p:cNvPr id="32" name="Shape 30"/>
          <p:cNvSpPr/>
          <p:nvPr/>
        </p:nvSpPr>
        <p:spPr>
          <a:xfrm>
            <a:off x="6629400" y="3236976"/>
            <a:ext cx="283464" cy="28346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29400" y="3241548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059168" y="3236976"/>
            <a:ext cx="4178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自動預覽、檢核並保存要項版本</a:t>
            </a:r>
            <a:endParaRPr lang="en-US" sz="1410" dirty="0"/>
          </a:p>
        </p:txBody>
      </p:sp>
      <p:sp>
        <p:nvSpPr>
          <p:cNvPr id="35" name="Shape 33"/>
          <p:cNvSpPr/>
          <p:nvPr/>
        </p:nvSpPr>
        <p:spPr>
          <a:xfrm>
            <a:off x="6629400" y="3730752"/>
            <a:ext cx="283464" cy="28346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29400" y="3735324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059168" y="3730752"/>
            <a:ext cx="4178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建立單次或週期性的產情任務</a:t>
            </a:r>
            <a:endParaRPr lang="en-US" sz="1410" dirty="0"/>
          </a:p>
        </p:txBody>
      </p:sp>
      <p:sp>
        <p:nvSpPr>
          <p:cNvPr id="38" name="Shape 36"/>
          <p:cNvSpPr/>
          <p:nvPr/>
        </p:nvSpPr>
        <p:spPr>
          <a:xfrm>
            <a:off x="6629400" y="4224528"/>
            <a:ext cx="283464" cy="28346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29400" y="4229100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059168" y="4224528"/>
            <a:ext cx="4178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系統排程呼叫既有 SRAF 分析流程</a:t>
            </a:r>
            <a:endParaRPr lang="en-US" sz="1410" dirty="0"/>
          </a:p>
        </p:txBody>
      </p:sp>
      <p:sp>
        <p:nvSpPr>
          <p:cNvPr id="41" name="Shape 39"/>
          <p:cNvSpPr/>
          <p:nvPr/>
        </p:nvSpPr>
        <p:spPr>
          <a:xfrm>
            <a:off x="6629400" y="4718304"/>
            <a:ext cx="283464" cy="28346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29400" y="4722876"/>
            <a:ext cx="2834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4718304"/>
            <a:ext cx="417880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1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查詢執行紀錄並取得 Word 報告</a:t>
            </a:r>
            <a:endParaRPr lang="en-US" sz="1410" dirty="0"/>
          </a:p>
        </p:txBody>
      </p:sp>
      <p:sp>
        <p:nvSpPr>
          <p:cNvPr id="44" name="Text 42"/>
          <p:cNvSpPr txBox="1"/>
          <p:nvPr/>
        </p:nvSpPr>
        <p:spPr>
          <a:xfrm>
            <a:off x="667512" y="5779008"/>
            <a:ext cx="10972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核心改變：從「人看 Excel → 人提問 SRAF」，走向「Excel 設定要項 → 系統自動產情」。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35516B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EC1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EC1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13B7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全流程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輸入一份要項，形成可持續運作的產情任務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9C9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目標端到端流程；不同方塊的開發與驗收狀態，後續逐一說明。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3192" y="2350008"/>
            <a:ext cx="1719072" cy="1938528"/>
          </a:xfrm>
          <a:prstGeom prst="roundRect">
            <a:avLst>
              <a:gd name="adj" fmla="val 7979"/>
            </a:avLst>
          </a:prstGeom>
          <a:solidFill>
            <a:srgbClr val="233A51"/>
          </a:solidFill>
          <a:ln w="12700">
            <a:solidFill>
              <a:srgbClr val="3950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2523744"/>
            <a:ext cx="457200" cy="457200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87552" y="2551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2004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要項輸入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" y="37124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AC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/ CSV / JSON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30552" y="3291840"/>
            <a:ext cx="201168" cy="0"/>
          </a:xfrm>
          <a:prstGeom prst="line">
            <a:avLst/>
          </a:prstGeom>
          <a:noFill/>
          <a:ln w="25400">
            <a:solidFill>
              <a:srgbClr val="66BFB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258568" y="3232404"/>
            <a:ext cx="128016" cy="118872"/>
          </a:xfrm>
          <a:prstGeom prst="chevron">
            <a:avLst/>
          </a:prstGeom>
          <a:solidFill>
            <a:srgbClr val="66BFB8"/>
          </a:solidFill>
          <a:ln w="12700">
            <a:solidFill>
              <a:srgbClr val="66BF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40864" y="2350008"/>
            <a:ext cx="1719072" cy="1938528"/>
          </a:xfrm>
          <a:prstGeom prst="roundRect">
            <a:avLst>
              <a:gd name="adj" fmla="val 7979"/>
            </a:avLst>
          </a:prstGeom>
          <a:solidFill>
            <a:srgbClr val="233A51"/>
          </a:solidFill>
          <a:ln w="12700">
            <a:solidFill>
              <a:srgbClr val="3950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35224" y="2523744"/>
            <a:ext cx="457200" cy="457200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35224" y="2551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450592" y="32004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資料預覽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441448" y="37124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AC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格式、錯誤、版本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78224" y="3291840"/>
            <a:ext cx="201168" cy="0"/>
          </a:xfrm>
          <a:prstGeom prst="line">
            <a:avLst/>
          </a:prstGeom>
          <a:noFill/>
          <a:ln w="25400">
            <a:solidFill>
              <a:srgbClr val="66BFB8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206240" y="3232404"/>
            <a:ext cx="128016" cy="118872"/>
          </a:xfrm>
          <a:prstGeom prst="chevron">
            <a:avLst/>
          </a:prstGeom>
          <a:solidFill>
            <a:srgbClr val="66BFB8"/>
          </a:solidFill>
          <a:ln w="12700">
            <a:solidFill>
              <a:srgbClr val="66BF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88536" y="2350008"/>
            <a:ext cx="1719072" cy="1938528"/>
          </a:xfrm>
          <a:prstGeom prst="roundRect">
            <a:avLst>
              <a:gd name="adj" fmla="val 7979"/>
            </a:avLst>
          </a:prstGeom>
          <a:solidFill>
            <a:srgbClr val="233A51"/>
          </a:solidFill>
          <a:ln w="12700">
            <a:solidFill>
              <a:srgbClr val="3950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82896" y="2523744"/>
            <a:ext cx="457200" cy="457200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82896" y="2551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398264" y="32004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建立任務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389120" y="37124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AC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單次／週期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25896" y="3291840"/>
            <a:ext cx="201168" cy="0"/>
          </a:xfrm>
          <a:prstGeom prst="line">
            <a:avLst/>
          </a:prstGeom>
          <a:noFill/>
          <a:ln w="25400">
            <a:solidFill>
              <a:srgbClr val="66BFB8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153912" y="3232404"/>
            <a:ext cx="128016" cy="118872"/>
          </a:xfrm>
          <a:prstGeom prst="chevron">
            <a:avLst/>
          </a:prstGeom>
          <a:solidFill>
            <a:srgbClr val="66BFB8"/>
          </a:solidFill>
          <a:ln w="12700">
            <a:solidFill>
              <a:srgbClr val="66BF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36208" y="2350008"/>
            <a:ext cx="1719072" cy="1938528"/>
          </a:xfrm>
          <a:prstGeom prst="roundRect">
            <a:avLst>
              <a:gd name="adj" fmla="val 7979"/>
            </a:avLst>
          </a:prstGeom>
          <a:solidFill>
            <a:srgbClr val="233A51"/>
          </a:solidFill>
          <a:ln w="12700">
            <a:solidFill>
              <a:srgbClr val="3950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30568" y="2523744"/>
            <a:ext cx="457200" cy="457200"/>
          </a:xfrm>
          <a:prstGeom prst="ellipse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2551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45936" y="32004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排程執行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336792" y="37124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AC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Schedule / Handoff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973568" y="3291840"/>
            <a:ext cx="201168" cy="0"/>
          </a:xfrm>
          <a:prstGeom prst="line">
            <a:avLst/>
          </a:prstGeom>
          <a:noFill/>
          <a:ln w="25400">
            <a:solidFill>
              <a:srgbClr val="66BFB8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8101584" y="3232404"/>
            <a:ext cx="128016" cy="118872"/>
          </a:xfrm>
          <a:prstGeom prst="chevron">
            <a:avLst/>
          </a:prstGeom>
          <a:solidFill>
            <a:srgbClr val="66BFB8"/>
          </a:solidFill>
          <a:ln w="12700">
            <a:solidFill>
              <a:srgbClr val="66BF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83880" y="2350008"/>
            <a:ext cx="1719072" cy="1938528"/>
          </a:xfrm>
          <a:prstGeom prst="roundRect">
            <a:avLst>
              <a:gd name="adj" fmla="val 7979"/>
            </a:avLst>
          </a:prstGeom>
          <a:solidFill>
            <a:srgbClr val="233A51"/>
          </a:solidFill>
          <a:ln w="12700">
            <a:solidFill>
              <a:srgbClr val="3950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0" y="2523744"/>
            <a:ext cx="457200" cy="457200"/>
          </a:xfrm>
          <a:prstGeom prst="ellipse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0" y="2551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293608" y="32004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產情分析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284464" y="37124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AC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/ ES / LLM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921240" y="3291840"/>
            <a:ext cx="201168" cy="0"/>
          </a:xfrm>
          <a:prstGeom prst="line">
            <a:avLst/>
          </a:prstGeom>
          <a:noFill/>
          <a:ln w="25400">
            <a:solidFill>
              <a:srgbClr val="66BFB8"/>
            </a:solidFill>
            <a:prstDash val="solid"/>
            <a:headEnd type="none"/>
            <a:tailEnd type="none"/>
          </a:ln>
        </p:spPr>
      </p:sp>
      <p:sp>
        <p:nvSpPr>
          <p:cNvPr id="42" name="Shape 40"/>
          <p:cNvSpPr/>
          <p:nvPr/>
        </p:nvSpPr>
        <p:spPr>
          <a:xfrm>
            <a:off x="10049256" y="3232404"/>
            <a:ext cx="128016" cy="118872"/>
          </a:xfrm>
          <a:prstGeom prst="chevron">
            <a:avLst/>
          </a:prstGeom>
          <a:solidFill>
            <a:srgbClr val="66BFB8"/>
          </a:solidFill>
          <a:ln w="12700">
            <a:solidFill>
              <a:srgbClr val="66BF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131552" y="2350008"/>
            <a:ext cx="1719072" cy="1938528"/>
          </a:xfrm>
          <a:prstGeom prst="roundRect">
            <a:avLst>
              <a:gd name="adj" fmla="val 7979"/>
            </a:avLst>
          </a:prstGeom>
          <a:solidFill>
            <a:srgbClr val="1C4650"/>
          </a:solidFill>
          <a:ln w="12700">
            <a:solidFill>
              <a:srgbClr val="268E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725912" y="2523744"/>
            <a:ext cx="457200" cy="457200"/>
          </a:xfrm>
          <a:prstGeom prst="ellipse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725912" y="25511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10241280" y="3200400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結果交付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232136" y="371246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AC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DOCX / 歷程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4800600"/>
            <a:ext cx="11000232" cy="841248"/>
          </a:xfrm>
          <a:prstGeom prst="roundRect">
            <a:avLst>
              <a:gd name="adj" fmla="val 17391"/>
            </a:avLst>
          </a:prstGeom>
          <a:solidFill>
            <a:srgbClr val="182D43"/>
          </a:solidFill>
          <a:ln w="12700">
            <a:solidFill>
              <a:srgbClr val="182D43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59536" y="5010912"/>
            <a:ext cx="10469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DCE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底層共用：SRA 既有匯入、版本管理、權限、排程、執行工作者、檢索分析與報告儲存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49224" y="5943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2BB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**目標成果**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1828800" y="59253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DAE8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不必逐項在 OpenWebUI 手動提問，也能保存任務、資料版本、產出與責任歸屬。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輸入與輸出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長官最關心的：到底丟什麼進去，會拿到什麼？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支援不同的輸入方式；實際欄位由核准的匯入設定檔轉換，不是限制死一張 Excel 格式。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" y="1865376"/>
            <a:ext cx="5266944" cy="3785616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2784" y="1865376"/>
            <a:ext cx="5303520" cy="3785616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93976"/>
            <a:ext cx="1463040" cy="329184"/>
          </a:xfrm>
          <a:prstGeom prst="roundRect">
            <a:avLst>
              <a:gd name="adj" fmla="val 33333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2103120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INPUT｜輸入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56248" y="2093976"/>
            <a:ext cx="1554480" cy="329184"/>
          </a:xfrm>
          <a:prstGeom prst="roundRect">
            <a:avLst>
              <a:gd name="adj" fmla="val 33333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2103120"/>
            <a:ext cx="1408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OUTPUT｜輸出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2651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資料內容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2980944"/>
            <a:ext cx="4608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Excel（.xlsx）、CSV、JSON；或直接送入要項 JSON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8587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執行設定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4187952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要項名稱、核准的匯入設定版本、單次／定期排程、啟停與權限設定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2706624"/>
            <a:ext cx="237744" cy="23774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2697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67728" y="266090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產情報告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67728" y="291693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 / DOCX：彙整分析結果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3364992"/>
            <a:ext cx="237744" cy="23774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3355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67728" y="331927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任務與執行狀態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67728" y="357530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完成、失敗、執行紀錄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4023360"/>
            <a:ext cx="237744" cy="23774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0" y="40142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67728" y="397764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資料與排程版本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67728" y="4233672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可辨識每次執行所用要項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583680" y="4681728"/>
            <a:ext cx="237744" cy="237744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46725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67728" y="463600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操作與稽核證據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67728" y="48920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可追溯誰建立、修改及觸發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68096" y="5852160"/>
            <a:ext cx="10744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例：每週追蹤「特定海域動態」→ 排程蒐整相關資料 → 產出當週 Word 產情報告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 架構策略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不是另做一個系統，而是把原有 SRA 能力整合起來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讓新功能沿用現有資料、角色權限、執行管線與 Word 報告機制。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10789920" cy="658368"/>
          </a:xfrm>
          <a:prstGeom prst="roundRect">
            <a:avLst>
              <a:gd name="adj" fmla="val 20833"/>
            </a:avLst>
          </a:prstGeom>
          <a:solidFill>
            <a:srgbClr val="101F33"/>
          </a:solidFill>
          <a:ln w="12700">
            <a:solidFill>
              <a:srgbClr val="101F33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" y="1911096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 SRA 管理介面  /editor      ＋      未來的「要項與自動化任務」專區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023360" y="2724912"/>
            <a:ext cx="4114800" cy="566928"/>
          </a:xfrm>
          <a:prstGeom prst="roundRect">
            <a:avLst>
              <a:gd name="adj" fmla="val 20968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06240" y="2834640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API（新的統一操作入口）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89904" y="2441448"/>
            <a:ext cx="0" cy="265176"/>
          </a:xfrm>
          <a:prstGeom prst="line">
            <a:avLst/>
          </a:prstGeom>
          <a:noFill/>
          <a:ln w="20320">
            <a:solidFill>
              <a:srgbClr val="60758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704088" y="3721608"/>
            <a:ext cx="3456432" cy="1152144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721608"/>
            <a:ext cx="59436" cy="1152144"/>
          </a:xfrm>
          <a:prstGeom prst="rect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" y="3941064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Requirement Import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" y="4370832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要項匯入／預覽／Snapshot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9904" y="3300984"/>
            <a:ext cx="-3657600" cy="384048"/>
          </a:xfrm>
          <a:prstGeom prst="line">
            <a:avLst/>
          </a:prstGeom>
          <a:noFill/>
          <a:ln w="13970">
            <a:solidFill>
              <a:srgbClr val="60758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462272" y="3721608"/>
            <a:ext cx="3456432" cy="1152144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3721608"/>
            <a:ext cx="59436" cy="1152144"/>
          </a:xfrm>
          <a:prstGeom prst="rect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63440" y="3941064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Schedule + Handoff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608576" y="4370832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排程、版本、執行交接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089904" y="3300984"/>
            <a:ext cx="100584" cy="384048"/>
          </a:xfrm>
          <a:prstGeom prst="line">
            <a:avLst/>
          </a:prstGeom>
          <a:noFill/>
          <a:ln w="13970">
            <a:solidFill>
              <a:srgbClr val="60758A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8220456" y="3721608"/>
            <a:ext cx="3456432" cy="1152144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0456" y="3721608"/>
            <a:ext cx="59436" cy="1152144"/>
          </a:xfrm>
          <a:prstGeom prst="rect">
            <a:avLst/>
          </a:prstGeom>
          <a:solidFill>
            <a:srgbClr val="F2BB63"/>
          </a:solidFill>
          <a:ln w="12700">
            <a:solidFill>
              <a:srgbClr val="F2BB6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21624" y="3941064"/>
            <a:ext cx="2990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Report Job + AI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370832"/>
            <a:ext cx="312724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/ LLM / ES ／ DOCX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89904" y="3300984"/>
            <a:ext cx="3858768" cy="384048"/>
          </a:xfrm>
          <a:prstGeom prst="line">
            <a:avLst/>
          </a:prstGeom>
          <a:noFill/>
          <a:ln w="13970">
            <a:solidFill>
              <a:srgbClr val="60758A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713232" y="5193792"/>
            <a:ext cx="10735056" cy="585216"/>
          </a:xfrm>
          <a:prstGeom prst="roundRect">
            <a:avLst>
              <a:gd name="adj" fmla="val 17188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1832" y="5358384"/>
            <a:ext cx="10250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共用底座：Auth / RBAC、Service Key、稽核、SQL / ES、歷史檔案與既有匯入管理</a:t>
            </a:r>
            <a:endParaRPr lang="en-US" sz="1300" dirty="0"/>
          </a:p>
        </p:txBody>
      </p:sp>
      <p:sp>
        <p:nvSpPr>
          <p:cNvPr id="30" name="Text 28">
            <a:hlinkClick r:id="rId1" tooltip=""/>
          </p:cNvPr>
          <p:cNvSpPr txBox="1"/>
          <p:nvPr/>
        </p:nvSpPr>
        <p:spPr>
          <a:xfrm>
            <a:off x="612648" y="623620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u="sng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來源：Product API + Task Center Design v1（2026-10-01）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 工作進度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現況拆成三類：已完成、正在做、下一步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以下是開發完成度，而不是正式上線完成度。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" y="1874520"/>
            <a:ext cx="3474720" cy="4023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874520"/>
            <a:ext cx="3474720" cy="557784"/>
          </a:xfrm>
          <a:prstGeom prst="roundRect">
            <a:avLst>
              <a:gd name="adj" fmla="val 24590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3816" y="19933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3B7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已完成｜合併 main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41248" y="2752344"/>
            <a:ext cx="64008" cy="64008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資料結構與 ID 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191256"/>
            <a:ext cx="64008" cy="64008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1089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輸入資料預覽與檢核服務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" y="3630168"/>
            <a:ext cx="64008" cy="64008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54787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一次性任務建立與初始化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4069080"/>
            <a:ext cx="64008" cy="64008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398678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週期性任務建立與啟動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" y="4507992"/>
            <a:ext cx="64008" cy="64008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442569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修改任務／排程提案與核准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1248" y="4946904"/>
            <a:ext cx="64008" cy="64008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486460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權限邊界與低階資源保護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61688" y="1874520"/>
            <a:ext cx="3474720" cy="4023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1688" y="1874520"/>
            <a:ext cx="3474720" cy="557784"/>
          </a:xfrm>
          <a:prstGeom prst="roundRect">
            <a:avLst>
              <a:gd name="adj" fmla="val 24590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2856" y="19933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進行中｜PR #287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590288" y="2752344"/>
            <a:ext cx="64008" cy="64008"/>
          </a:xfrm>
          <a:prstGeom prst="ellipse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54880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更換既有任務的要項輸入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90288" y="3191256"/>
            <a:ext cx="64008" cy="64008"/>
          </a:xfrm>
          <a:prstGeom prst="ellipse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31089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Snapshot 版本衝突控制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90288" y="3630168"/>
            <a:ext cx="64008" cy="64008"/>
          </a:xfrm>
          <a:prstGeom prst="ellipse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54880" y="354787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重試與併發一致性收斂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90288" y="4069080"/>
            <a:ext cx="64008" cy="64008"/>
          </a:xfrm>
          <a:prstGeom prst="ellipse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54880" y="398678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 P1 審查意見修正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10728" y="1874520"/>
            <a:ext cx="3474720" cy="4023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10728" y="1874520"/>
            <a:ext cx="3474720" cy="557784"/>
          </a:xfrm>
          <a:prstGeom prst="roundRect">
            <a:avLst>
              <a:gd name="adj" fmla="val 24590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11896" y="19933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E56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後續｜尚未交付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8339328" y="2752344"/>
            <a:ext cx="64008" cy="64008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26700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 Product API／Run 觸發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39328" y="3191256"/>
            <a:ext cx="64008" cy="64008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503920" y="310896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整合式要項任務中心 UI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339328" y="3630168"/>
            <a:ext cx="64008" cy="64008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03920" y="354787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Service Key 自動化授權驗證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339328" y="4069080"/>
            <a:ext cx="64008" cy="64008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503920" y="398678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真實輸入 E2E 與正式部署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339328" y="4507992"/>
            <a:ext cx="64008" cy="64008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503920" y="442569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瀏覽器操作與安全回歸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21792" y="6044184"/>
            <a:ext cx="10972800" cy="283464"/>
          </a:xfrm>
          <a:prstGeom prst="roundRect">
            <a:avLst>
              <a:gd name="adj" fmla="val 22581"/>
            </a:avLst>
          </a:prstGeom>
          <a:solidFill>
            <a:srgbClr val="101F33"/>
          </a:solidFill>
          <a:ln w="12700">
            <a:solidFill>
              <a:srgbClr val="101F33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608533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核心界線：後端 service 能力 ≠ 對外 API 已完成 ≠ 使用者頁面已完成 ≠ 正式系統已驗收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 幾週的工作脈絡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這幾週不是停在同一件事，而是一段一段完成可驗證的里程碑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時間範圍：9 月中下旬至 10 月 12 日；日期依 Hosted GitHub 合併紀錄與既有驗證紀錄。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2688" y="3035808"/>
            <a:ext cx="10131552" cy="0"/>
          </a:xfrm>
          <a:prstGeom prst="line">
            <a:avLst/>
          </a:prstGeom>
          <a:noFill/>
          <a:ln w="38100">
            <a:solidFill>
              <a:srgbClr val="BAC9D7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68680" y="2907792"/>
            <a:ext cx="274320" cy="274320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728216"/>
            <a:ext cx="2468880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18745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 月中下旬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既有查詢與技術底座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44144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OpenWebUI 人工提問</a:t>
            </a:r>
            <a:endParaRPr lang="en-US" sz="9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 Golden Path</a:t>
            </a:r>
            <a:endParaRPr lang="en-US" sz="9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尚無 Excel 排程入口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996696" y="2862072"/>
            <a:ext cx="0" cy="-54864"/>
          </a:xfrm>
          <a:prstGeom prst="line">
            <a:avLst/>
          </a:prstGeom>
          <a:noFill/>
          <a:ln w="19050">
            <a:solidFill>
              <a:srgbClr val="DCE5E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3337560" y="2907792"/>
            <a:ext cx="274320" cy="274320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3557016"/>
            <a:ext cx="2468880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37560" y="37033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01–06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整合設計 + 資料基座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46704" y="427024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#277–#279</a:t>
            </a:r>
            <a:endParaRPr lang="en-US" sz="9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產品設計、Schema v4</a:t>
            </a:r>
            <a:endParaRPr lang="en-US" sz="9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跨系統 ID 重試保護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3465576" y="3191256"/>
            <a:ext cx="0" cy="347472"/>
          </a:xfrm>
          <a:prstGeom prst="line">
            <a:avLst/>
          </a:prstGeom>
          <a:noFill/>
          <a:ln w="19050">
            <a:solidFill>
              <a:srgbClr val="DCE5ED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5833872" y="2907792"/>
            <a:ext cx="274320" cy="274320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50992" y="1728216"/>
            <a:ext cx="2468880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33872" y="18745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07–08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833872" y="21579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任務實際建立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843016" y="244144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#280–#284</a:t>
            </a:r>
            <a:endParaRPr lang="en-US" sz="9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預覽、單次/週期</a:t>
            </a:r>
            <a:endParaRPr lang="en-US" sz="9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任務修改與版本草稿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5961888" y="2862072"/>
            <a:ext cx="0" cy="-54864"/>
          </a:xfrm>
          <a:prstGeom prst="line">
            <a:avLst/>
          </a:prstGeom>
          <a:noFill/>
          <a:ln w="19050">
            <a:solidFill>
              <a:srgbClr val="DCE5ED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348472" y="2907792"/>
            <a:ext cx="274320" cy="274320"/>
          </a:xfrm>
          <a:prstGeom prst="ellipse">
            <a:avLst/>
          </a:prstGeom>
          <a:solidFill>
            <a:srgbClr val="397AB6"/>
          </a:solidFill>
          <a:ln w="12700">
            <a:solidFill>
              <a:srgbClr val="397AB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65592" y="3557016"/>
            <a:ext cx="2468880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48472" y="370332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/ 11–12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348472" y="39867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權限一致性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357616" y="4270248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#285–#286 已合併</a:t>
            </a:r>
            <a:endParaRPr lang="en-US" sz="9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#287 輸入替換審查中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8476488" y="3191256"/>
            <a:ext cx="0" cy="347472"/>
          </a:xfrm>
          <a:prstGeom prst="line">
            <a:avLst/>
          </a:prstGeom>
          <a:noFill/>
          <a:ln w="19050">
            <a:solidFill>
              <a:srgbClr val="DCE5ED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795528" y="5157216"/>
            <a:ext cx="10616184" cy="694944"/>
          </a:xfrm>
          <a:prstGeom prst="roundRect">
            <a:avLst>
              <a:gd name="adj" fmla="val 19737"/>
            </a:avLst>
          </a:prstGeom>
          <a:solidFill>
            <a:srgbClr val="FFF5E4"/>
          </a:solidFill>
          <a:ln w="12700">
            <a:solidFill>
              <a:srgbClr val="FFF5E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1560" y="5321808"/>
            <a:ext cx="10241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916B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階段解讀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2148840" y="5294376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765C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先證明能執行 → 再做產品控制層 → 最後交付操作介面與正式驗收。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35516B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EC1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EC1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13B7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 為什麼花好幾週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從人工問答變成自動產情，難的不只是讀 Excel，而是整條可靠流程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9C9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尤其「排程 + 產情」跨越資料、權限、版本、工作者與外部模型。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" y="1837944"/>
            <a:ext cx="5340096" cy="1426464"/>
          </a:xfrm>
          <a:prstGeom prst="roundRect">
            <a:avLst>
              <a:gd name="adj" fmla="val 9615"/>
            </a:avLst>
          </a:prstGeom>
          <a:solidFill>
            <a:srgbClr val="223A53"/>
          </a:solidFill>
          <a:ln w="12700">
            <a:solidFill>
              <a:srgbClr val="223A5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837944"/>
            <a:ext cx="64008" cy="1426464"/>
          </a:xfrm>
          <a:prstGeom prst="rect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6968" y="20299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多階段整合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49631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2D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匯入、資料版本、排程、AI 分析與 Word 報告，不是同一個操作。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63640" y="1837944"/>
            <a:ext cx="5340096" cy="1426464"/>
          </a:xfrm>
          <a:prstGeom prst="roundRect">
            <a:avLst>
              <a:gd name="adj" fmla="val 9615"/>
            </a:avLst>
          </a:prstGeom>
          <a:solidFill>
            <a:srgbClr val="223A53"/>
          </a:solidFill>
          <a:ln w="12700">
            <a:solidFill>
              <a:srgbClr val="223A5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37944"/>
            <a:ext cx="64008" cy="1426464"/>
          </a:xfrm>
          <a:prstGeom prst="rect">
            <a:avLst/>
          </a:prstGeom>
          <a:solidFill>
            <a:srgbClr val="F2BB63"/>
          </a:solidFill>
          <a:ln w="12700">
            <a:solidFill>
              <a:srgbClr val="F2BB63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202996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斷線／失敗恢復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2496312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2D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同一請求重送，不能多生一個任務、多跑一次，或留下半成品。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" y="3538728"/>
            <a:ext cx="5340096" cy="1426464"/>
          </a:xfrm>
          <a:prstGeom prst="roundRect">
            <a:avLst>
              <a:gd name="adj" fmla="val 9615"/>
            </a:avLst>
          </a:prstGeom>
          <a:solidFill>
            <a:srgbClr val="223A53"/>
          </a:solidFill>
          <a:ln w="12700">
            <a:solidFill>
              <a:srgbClr val="223A5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" y="3538728"/>
            <a:ext cx="64008" cy="1426464"/>
          </a:xfrm>
          <a:prstGeom prst="rect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3730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多人同時操作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4197096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2D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更新中的 Excel 與排程版本必須避免相互覆蓋或產生錯配。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3538728"/>
            <a:ext cx="5340096" cy="1426464"/>
          </a:xfrm>
          <a:prstGeom prst="roundRect">
            <a:avLst>
              <a:gd name="adj" fmla="val 9615"/>
            </a:avLst>
          </a:prstGeom>
          <a:solidFill>
            <a:srgbClr val="223A53"/>
          </a:solidFill>
          <a:ln w="12700">
            <a:solidFill>
              <a:srgbClr val="223A5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3538728"/>
            <a:ext cx="64008" cy="1426464"/>
          </a:xfrm>
          <a:prstGeom prst="rect">
            <a:avLst/>
          </a:prstGeom>
          <a:solidFill>
            <a:srgbClr val="F2BB63"/>
          </a:solidFill>
          <a:ln w="12700">
            <a:solidFill>
              <a:srgbClr val="F2BB63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37307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安全與可追溯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197096"/>
            <a:ext cx="4736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D2DF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不同操作權限、稽核軌跡、輸入版本及產出檔案都必須對得起來。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" y="5577840"/>
            <a:ext cx="10945368" cy="512064"/>
          </a:xfrm>
          <a:prstGeom prst="roundRect">
            <a:avLst>
              <a:gd name="adj" fmla="val 21429"/>
            </a:avLst>
          </a:prstGeom>
          <a:solidFill>
            <a:srgbClr val="143745"/>
          </a:solidFill>
          <a:ln w="12700">
            <a:solidFill>
              <a:srgbClr val="14374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" y="5696712"/>
            <a:ext cx="10497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CCEEE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因此採「分階段實作 → 回歸測試 → 程式審查 → 合併」方式，避免一次整包開發造成返工。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 可靠性投資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表面上看不見的功能，才是自動化能長期運作的關鍵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以已實作的 Product 後端機制為例。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" y="1874520"/>
            <a:ext cx="5312664" cy="1581912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075688"/>
            <a:ext cx="685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527048" y="2093976"/>
            <a:ext cx="4005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重複請求不重做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27048" y="2523744"/>
            <a:ext cx="4005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同一筆建任務／更新任務請求可辨識並恢復，降低重複產出風險。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27048" y="3118104"/>
            <a:ext cx="2039112" cy="219456"/>
          </a:xfrm>
          <a:prstGeom prst="roundRect">
            <a:avLst>
              <a:gd name="adj" fmla="val 50000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00200" y="312724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Idempotency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54496" y="1874520"/>
            <a:ext cx="5312664" cy="1581912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2075688"/>
            <a:ext cx="685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68896" y="2093976"/>
            <a:ext cx="4005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資料版本不搞混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168896" y="2523744"/>
            <a:ext cx="4005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每次執行綁定資料快照及排程版本，避免使用新資料冒充舊執行結果。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68896" y="3118104"/>
            <a:ext cx="2039112" cy="219456"/>
          </a:xfrm>
          <a:prstGeom prst="roundRect">
            <a:avLst>
              <a:gd name="adj" fmla="val 50000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42048" y="312724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Snapshot / Version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" y="3730752"/>
            <a:ext cx="5312664" cy="1581912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3816" y="3931920"/>
            <a:ext cx="685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527048" y="3950208"/>
            <a:ext cx="4005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更新衝突即時阻擋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27048" y="4379976"/>
            <a:ext cx="4005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使用版本比對與交易保護，在同時修改時拒絕不一致的覆寫。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27048" y="4974336"/>
            <a:ext cx="2039112" cy="219456"/>
          </a:xfrm>
          <a:prstGeom prst="roundRect">
            <a:avLst>
              <a:gd name="adj" fmla="val 50000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00200" y="498348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CAS / Transaction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54496" y="3730752"/>
            <a:ext cx="5312664" cy="1581912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55664" y="3931920"/>
            <a:ext cx="685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168896" y="3950208"/>
            <a:ext cx="40050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不是任何人都能更改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168896" y="4379976"/>
            <a:ext cx="40050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敏感排程啟動權限與資源擁有權設邊界，沿用現有 RBAC。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68896" y="4974336"/>
            <a:ext cx="2039112" cy="219456"/>
          </a:xfrm>
          <a:prstGeom prst="roundRect">
            <a:avLst>
              <a:gd name="adj" fmla="val 50000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242048" y="4983480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Ownership / RBAC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40664" y="598017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實際作用：減少重複任務、遺漏分析、排程互搶、結果無法追溯等作業風險。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 目前進行中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P1.7：讓使用者「更換要項 Excel」時，舊任務仍安全、結果仍一致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 #287 已開啟，尚未合併；目前 Codex Review 有一項需修正的 P1 finding。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" y="1947672"/>
            <a:ext cx="6903720" cy="3456432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58568"/>
            <a:ext cx="6291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情境：同一個產情任務，兩個人先後更新輸入檔案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14400" y="3035808"/>
            <a:ext cx="1746504" cy="649224"/>
          </a:xfrm>
          <a:prstGeom prst="roundRect">
            <a:avLst>
              <a:gd name="adj" fmla="val 16901"/>
            </a:avLst>
          </a:prstGeom>
          <a:solidFill>
            <a:srgbClr val="E7EDF3"/>
          </a:solidFill>
          <a:ln w="12700">
            <a:solidFill>
              <a:srgbClr val="E7EDF3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227832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原始版本 S0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79192" y="3374136"/>
            <a:ext cx="201168" cy="0"/>
          </a:xfrm>
          <a:prstGeom prst="line">
            <a:avLst/>
          </a:prstGeom>
          <a:noFill/>
          <a:ln w="25400">
            <a:solidFill>
              <a:srgbClr val="13B7A6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2807208" y="3314700"/>
            <a:ext cx="128016" cy="118872"/>
          </a:xfrm>
          <a:prstGeom prst="chevron">
            <a:avLst/>
          </a:prstGeom>
          <a:solidFill>
            <a:srgbClr val="13B7A6"/>
          </a:solidFill>
          <a:ln w="12700">
            <a:solidFill>
              <a:srgbClr val="13B7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3035808"/>
            <a:ext cx="1746504" cy="649224"/>
          </a:xfrm>
          <a:prstGeom prst="roundRect">
            <a:avLst>
              <a:gd name="adj" fmla="val 16901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3227832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替換 → S1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45152" y="3374136"/>
            <a:ext cx="201168" cy="0"/>
          </a:xfrm>
          <a:prstGeom prst="line">
            <a:avLst/>
          </a:prstGeom>
          <a:noFill/>
          <a:ln w="25400">
            <a:solidFill>
              <a:srgbClr val="13B7A6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773168" y="3314700"/>
            <a:ext cx="128016" cy="118872"/>
          </a:xfrm>
          <a:prstGeom prst="chevron">
            <a:avLst/>
          </a:prstGeom>
          <a:solidFill>
            <a:srgbClr val="13B7A6"/>
          </a:solidFill>
          <a:ln w="12700">
            <a:solidFill>
              <a:srgbClr val="13B7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3035808"/>
            <a:ext cx="1746504" cy="649224"/>
          </a:xfrm>
          <a:prstGeom prst="roundRect">
            <a:avLst>
              <a:gd name="adj" fmla="val 16901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3227832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替換 → S2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160520"/>
            <a:ext cx="6099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要避免：舊請求回來時蓋掉新版本、重跑產生重複資料、記錄狀態和實際快照對不上。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818120" y="1947672"/>
            <a:ext cx="3739896" cy="3456432"/>
          </a:xfrm>
          <a:prstGeom prst="roundRect">
            <a:avLst>
              <a:gd name="adj" fmla="val 3968"/>
            </a:avLst>
          </a:prstGeom>
          <a:solidFill>
            <a:srgbClr val="FFF5E4"/>
          </a:solidFill>
          <a:ln w="12700">
            <a:solidFill>
              <a:srgbClr val="FFF5E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1584" y="2194560"/>
            <a:ext cx="1325880" cy="310896"/>
          </a:xfrm>
          <a:prstGeom prst="roundRect">
            <a:avLst>
              <a:gd name="adj" fmla="val 35294"/>
            </a:avLst>
          </a:prstGeom>
          <a:solidFill>
            <a:srgbClr val="F9E1B8"/>
          </a:solidFill>
          <a:ln w="12700">
            <a:solidFill>
              <a:srgbClr val="F9E1B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74736" y="2203704"/>
            <a:ext cx="1179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95652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當前需修正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101584" y="27340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7953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 P1 審查意見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8110728" y="3273552"/>
            <a:ext cx="307238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563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當候選輸入包含錯誤時，版本檢查與失敗紀錄須同一交易完成，避免競爭狀況出現不一致結果。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6967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下一步：修正 → 重跑對應測試 → exact-head Review / CI → 核准後合併</a:t>
            </a:r>
            <a:endParaRPr lang="en-US" sz="1400" dirty="0"/>
          </a:p>
        </p:txBody>
      </p:sp>
      <p:sp>
        <p:nvSpPr>
          <p:cNvPr id="27" name="Text 25">
            <a:hlinkClick r:id="rId1" tooltip=""/>
          </p:cNvPr>
          <p:cNvSpPr txBox="1"/>
          <p:nvPr/>
        </p:nvSpPr>
        <p:spPr>
          <a:xfrm>
            <a:off x="768096" y="6217920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u="sng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GitHub：PR #287 — input replacement snapshot CAS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後續使用者會看到什麼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「要項任務中心」將整合既有 SRA 管理介面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下圖為規劃中的操作畫面概念示意，並非目前已完成的實際截圖。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" y="1810512"/>
            <a:ext cx="10936224" cy="4050792"/>
          </a:xfrm>
          <a:prstGeom prst="roundRect">
            <a:avLst>
              <a:gd name="adj" fmla="val 3386"/>
            </a:avLst>
          </a:prstGeom>
          <a:solidFill>
            <a:srgbClr val="FFFFFF"/>
          </a:solidFill>
          <a:ln w="12700">
            <a:solidFill>
              <a:srgbClr val="DCE5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" y="1819656"/>
            <a:ext cx="10917936" cy="411480"/>
          </a:xfrm>
          <a:prstGeom prst="roundRect">
            <a:avLst>
              <a:gd name="adj" fmla="val 22222"/>
            </a:avLst>
          </a:prstGeom>
          <a:solidFill>
            <a:srgbClr val="101F33"/>
          </a:solidFill>
          <a:ln w="12700">
            <a:solidFill>
              <a:srgbClr val="101F33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1911096"/>
            <a:ext cx="10515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 管理平台     ES 資料庫      匯入管理  ›  要項與自動化任務      系統管理      帳號安全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2104" y="2468880"/>
            <a:ext cx="2020824" cy="3145536"/>
          </a:xfrm>
          <a:prstGeom prst="roundRect">
            <a:avLst>
              <a:gd name="adj" fmla="val 4072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596896"/>
            <a:ext cx="1819656" cy="438912"/>
          </a:xfrm>
          <a:prstGeom prst="roundRect">
            <a:avLst>
              <a:gd name="adj" fmla="val 16667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42416" y="2724912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要項任務中心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3291840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建立要項任務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3858768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執行紀錄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" y="4425696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要項來源與版本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145536" y="250545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要項任務中心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92056" y="2505456"/>
            <a:ext cx="1408176" cy="374904"/>
          </a:xfrm>
          <a:prstGeom prst="roundRect">
            <a:avLst>
              <a:gd name="adj" fmla="val 24390"/>
            </a:avLst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83496" y="2596896"/>
            <a:ext cx="119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建立任務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191256" y="316382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任務名稱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788152" y="31638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執行方式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1638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最近執行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659368" y="31638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168128" y="316382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3520440"/>
            <a:ext cx="8001000" cy="0"/>
          </a:xfrm>
          <a:prstGeom prst="line">
            <a:avLst/>
          </a:prstGeom>
          <a:noFill/>
          <a:ln w="12700">
            <a:solidFill>
              <a:srgbClr val="DCE5ED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3191256" y="36484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海域情勢動態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788152" y="36484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36484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04504" y="3639312"/>
            <a:ext cx="960120" cy="237744"/>
          </a:xfrm>
          <a:prstGeom prst="roundRect">
            <a:avLst>
              <a:gd name="adj" fmla="val 46154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77656" y="3648456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3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10168128" y="364845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18104" y="4123944"/>
            <a:ext cx="8028432" cy="475488"/>
          </a:xfrm>
          <a:prstGeom prst="roundRect">
            <a:avLst>
              <a:gd name="adj" fmla="val 865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191256" y="420624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專題要項蒐整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788152" y="420624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單次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7315200" y="420624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04504" y="4197096"/>
            <a:ext cx="960120" cy="237744"/>
          </a:xfrm>
          <a:prstGeom prst="roundRect">
            <a:avLst>
              <a:gd name="adj" fmla="val 46154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77656" y="4206240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3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已完成</a:t>
            </a:r>
            <a:endParaRPr lang="en-US" sz="930" dirty="0"/>
          </a:p>
        </p:txBody>
      </p:sp>
      <p:sp>
        <p:nvSpPr>
          <p:cNvPr id="38" name="Text 36"/>
          <p:cNvSpPr txBox="1"/>
          <p:nvPr/>
        </p:nvSpPr>
        <p:spPr>
          <a:xfrm>
            <a:off x="10168128" y="420624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3191256" y="4764024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政策訊息追蹤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788152" y="476402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0" y="476402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10/11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604504" y="4754880"/>
            <a:ext cx="960120" cy="237744"/>
          </a:xfrm>
          <a:prstGeom prst="roundRect">
            <a:avLst>
              <a:gd name="adj" fmla="val 46154"/>
            </a:avLst>
          </a:prstGeom>
          <a:solidFill>
            <a:srgbClr val="FFF5E4"/>
          </a:solidFill>
          <a:ln w="12700">
            <a:solidFill>
              <a:srgbClr val="FFF5E4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77656" y="4764024"/>
            <a:ext cx="813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30" b="1" dirty="0">
                <a:solidFill>
                  <a:srgbClr val="916B3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等待中</a:t>
            </a:r>
            <a:endParaRPr lang="en-US" sz="930" dirty="0"/>
          </a:p>
        </p:txBody>
      </p:sp>
      <p:sp>
        <p:nvSpPr>
          <p:cNvPr id="44" name="Text 42"/>
          <p:cNvSpPr txBox="1"/>
          <p:nvPr/>
        </p:nvSpPr>
        <p:spPr>
          <a:xfrm>
            <a:off x="10168128" y="476402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查看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40664" y="6025896"/>
            <a:ext cx="10735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規劃功能：上傳與預覽 Excel｜任務建立｜排程草稿核准｜立即執行｜歷程／DOCX 下載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後續規劃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下一步用「可驗收交付物」推進，不再只以程式模組數量衡量進度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順序以相依關係為主；各階段需完成測試與檢視後才進入下一階段。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1773936"/>
            <a:ext cx="10799064" cy="841248"/>
          </a:xfrm>
          <a:prstGeom prst="roundRect">
            <a:avLst>
              <a:gd name="adj" fmla="val 16304"/>
            </a:avLst>
          </a:prstGeom>
          <a:solidFill>
            <a:srgbClr val="FCFDFE"/>
          </a:solidFill>
          <a:ln w="12700">
            <a:solidFill>
              <a:srgbClr val="FCFDF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" y="1773936"/>
            <a:ext cx="109728" cy="841248"/>
          </a:xfrm>
          <a:prstGeom prst="rect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" y="1938528"/>
            <a:ext cx="1033272" cy="246888"/>
          </a:xfrm>
          <a:prstGeom prst="roundRect">
            <a:avLst>
              <a:gd name="adj" fmla="val 44444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96696" y="1947672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58568" y="1975104"/>
            <a:ext cx="411480" cy="411480"/>
          </a:xfrm>
          <a:prstGeom prst="ellipse">
            <a:avLst/>
          </a:prstGeom>
          <a:solidFill>
            <a:srgbClr val="213D59"/>
          </a:solidFill>
          <a:ln w="12700">
            <a:solidFill>
              <a:srgbClr val="213D5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58568" y="20391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71216" y="1892808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P1.7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84064" y="1901952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輸入替換、競爭處理、Review 與合併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217152" y="1947672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完成後端 Product v1 主要控制機制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2798064"/>
            <a:ext cx="10799064" cy="841248"/>
          </a:xfrm>
          <a:prstGeom prst="roundRect">
            <a:avLst>
              <a:gd name="adj" fmla="val 163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" y="2798064"/>
            <a:ext cx="109728" cy="841248"/>
          </a:xfrm>
          <a:prstGeom prst="rect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2962656"/>
            <a:ext cx="1033272" cy="246888"/>
          </a:xfrm>
          <a:prstGeom prst="roundRect">
            <a:avLst>
              <a:gd name="adj" fmla="val 44444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" y="297180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下一階段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58568" y="2999232"/>
            <a:ext cx="411480" cy="411480"/>
          </a:xfrm>
          <a:prstGeom prst="ellipse">
            <a:avLst/>
          </a:prstGeom>
          <a:solidFill>
            <a:srgbClr val="213D59"/>
          </a:solidFill>
          <a:ln w="12700">
            <a:solidFill>
              <a:srgbClr val="213D5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258568" y="306324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871216" y="2916936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API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84064" y="2926080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預覽／建立／查詢／修改／觸發／下載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217152" y="2971800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外部系統可透過正式介面送入要項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822192"/>
            <a:ext cx="10799064" cy="841248"/>
          </a:xfrm>
          <a:prstGeom prst="roundRect">
            <a:avLst>
              <a:gd name="adj" fmla="val 16304"/>
            </a:avLst>
          </a:prstGeom>
          <a:solidFill>
            <a:srgbClr val="FCFDFE"/>
          </a:solidFill>
          <a:ln w="12700">
            <a:solidFill>
              <a:srgbClr val="FCFDF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3822192"/>
            <a:ext cx="109728" cy="841248"/>
          </a:xfrm>
          <a:prstGeom prst="rect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" y="3986784"/>
            <a:ext cx="1033272" cy="246888"/>
          </a:xfrm>
          <a:prstGeom prst="roundRect">
            <a:avLst>
              <a:gd name="adj" fmla="val 44444"/>
            </a:avLst>
          </a:prstGeom>
          <a:solidFill>
            <a:srgbClr val="E3F7F3"/>
          </a:solidFill>
          <a:ln w="12700">
            <a:solidFill>
              <a:srgbClr val="E3F7F3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6696" y="3995928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再下一階段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58568" y="4023360"/>
            <a:ext cx="411480" cy="411480"/>
          </a:xfrm>
          <a:prstGeom prst="ellipse">
            <a:avLst/>
          </a:prstGeom>
          <a:solidFill>
            <a:srgbClr val="213D59"/>
          </a:solidFill>
          <a:ln w="12700">
            <a:solidFill>
              <a:srgbClr val="213D59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58568" y="408736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871216" y="3941064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 + 任務中心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084064" y="3950208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 / Service Key、SRA UI、執行紀錄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217152" y="3995928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操作員不再自行串接低階 API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" y="4846320"/>
            <a:ext cx="10799064" cy="841248"/>
          </a:xfrm>
          <a:prstGeom prst="roundRect">
            <a:avLst>
              <a:gd name="adj" fmla="val 163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" y="4846320"/>
            <a:ext cx="109728" cy="841248"/>
          </a:xfrm>
          <a:prstGeom prst="rect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3544" y="5010912"/>
            <a:ext cx="1033272" cy="246888"/>
          </a:xfrm>
          <a:prstGeom prst="roundRect">
            <a:avLst>
              <a:gd name="adj" fmla="val 44444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6696" y="5020056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dirty="0">
                <a:solidFill>
                  <a:srgbClr val="9F47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正式交付前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58568" y="5047488"/>
            <a:ext cx="411480" cy="411480"/>
          </a:xfrm>
          <a:prstGeom prst="ellipse">
            <a:avLst/>
          </a:prstGeom>
          <a:solidFill>
            <a:srgbClr val="E56E6B"/>
          </a:solidFill>
          <a:ln w="12700">
            <a:solidFill>
              <a:srgbClr val="E56E6B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2258568" y="511149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2871216" y="4965192"/>
            <a:ext cx="2203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E2E 與部署驗收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5084064" y="4974336"/>
            <a:ext cx="4041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Excel、真實 ES/LLM、DOCX、Browser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9217152" y="5020056"/>
            <a:ext cx="19568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有可追溯的整鏈驗證證據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777240" y="6053328"/>
            <a:ext cx="107442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不列入本次 v1：重做排程引擎、全新登入系統、通用流程編輯器、分散式架構大改。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正式導入的風險與需求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程式合併 ≠ 正式環境通過：還有幾件事必須驗證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下列是驗收前需管控的客觀風險，應納入下一階段排程。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83664"/>
            <a:ext cx="10936224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66544"/>
            <a:ext cx="1225296" cy="338328"/>
          </a:xfrm>
          <a:prstGeom prst="roundRect">
            <a:avLst>
              <a:gd name="adj" fmla="val 32432"/>
            </a:avLst>
          </a:prstGeom>
          <a:solidFill>
            <a:srgbClr val="FFF0EE"/>
          </a:solidFill>
          <a:ln w="12700">
            <a:solidFill>
              <a:srgbClr val="FFF0E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1832" y="2075688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B0504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資料環境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029968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 Elasticsearch 曾有 mapping_incompatible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048256"/>
            <a:ext cx="0" cy="612648"/>
          </a:xfrm>
          <a:prstGeom prst="line">
            <a:avLst/>
          </a:prstGeom>
          <a:noFill/>
          <a:ln w="12700">
            <a:solidFill>
              <a:srgbClr val="DCE5ED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6647688" y="202082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校正 mapping / capability 後，重做真實檢索與產情報告驗證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99816"/>
            <a:ext cx="10936224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282696"/>
            <a:ext cx="1225296" cy="338328"/>
          </a:xfrm>
          <a:prstGeom prst="roundRect">
            <a:avLst>
              <a:gd name="adj" fmla="val 32432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41832" y="3291840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執行穩定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31720" y="3246120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SQL/排程並行、失敗恢復與接手測試未全結案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0" y="3264408"/>
            <a:ext cx="0" cy="612648"/>
          </a:xfrm>
          <a:prstGeom prst="line">
            <a:avLst/>
          </a:prstGeom>
          <a:noFill/>
          <a:ln w="12700">
            <a:solidFill>
              <a:srgbClr val="DCE5ED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 txBox="1"/>
          <p:nvPr/>
        </p:nvSpPr>
        <p:spPr>
          <a:xfrm>
            <a:off x="6647688" y="323697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正式環境做交易／競爭／失效注入及 worker 驗收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15968"/>
            <a:ext cx="10936224" cy="100584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498848"/>
            <a:ext cx="1225296" cy="338328"/>
          </a:xfrm>
          <a:prstGeom prst="roundRect">
            <a:avLst>
              <a:gd name="adj" fmla="val 32432"/>
            </a:avLst>
          </a:prstGeom>
          <a:solidFill>
            <a:srgbClr val="E8F2FB"/>
          </a:solidFill>
          <a:ln w="12700">
            <a:solidFill>
              <a:srgbClr val="E8F2FB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1832" y="4507992"/>
            <a:ext cx="1078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對外可用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4462272"/>
            <a:ext cx="3867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Product API、介面與瀏覽器 E2E 尚待完成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0" y="4480560"/>
            <a:ext cx="0" cy="612648"/>
          </a:xfrm>
          <a:prstGeom prst="line">
            <a:avLst/>
          </a:prstGeom>
          <a:noFill/>
          <a:ln w="12700">
            <a:solidFill>
              <a:srgbClr val="DCE5ED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6647688" y="44531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以真實 Excel、權限及 DOCX 回收形成上線驗收案例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3232" y="5879592"/>
            <a:ext cx="10698480" cy="393192"/>
          </a:xfrm>
          <a:prstGeom prst="roundRect">
            <a:avLst>
              <a:gd name="adj" fmla="val 23256"/>
            </a:avLst>
          </a:prstGeom>
          <a:solidFill>
            <a:srgbClr val="101F33"/>
          </a:solidFill>
          <a:ln w="12700">
            <a:solidFill>
              <a:srgbClr val="101F33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952744"/>
            <a:ext cx="10241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管理面建議：先排定測試環境／資料與跨單位配合窗口，避免程式完成後仍卡在正式驗收。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35516B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EC1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AEC1D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13B7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 完成後的效益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讓產情工作從「一次一次做」，變成「設定一次、持續追蹤」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B9C9D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先建立可測量的效益指標；未完成正式場域量測前，不臆測節省百分比。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1929384"/>
            <a:ext cx="5321808" cy="1124712"/>
          </a:xfrm>
          <a:prstGeom prst="roundRect">
            <a:avLst>
              <a:gd name="adj" fmla="val 12195"/>
            </a:avLst>
          </a:prstGeom>
          <a:solidFill>
            <a:srgbClr val="1D3851"/>
          </a:solidFill>
          <a:ln w="12700">
            <a:solidFill>
              <a:srgbClr val="1D3851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7824" y="2203704"/>
            <a:ext cx="493776" cy="493776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230428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01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45336" y="214884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節省人工作業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545336" y="2542032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9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減少逐項閱讀 Excel、重寫提示詞及人工回收結果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81928" y="1929384"/>
            <a:ext cx="5321808" cy="1124712"/>
          </a:xfrm>
          <a:prstGeom prst="roundRect">
            <a:avLst>
              <a:gd name="adj" fmla="val 12195"/>
            </a:avLst>
          </a:prstGeom>
          <a:solidFill>
            <a:srgbClr val="1D3851"/>
          </a:solidFill>
          <a:ln w="12700">
            <a:solidFill>
              <a:srgbClr val="1D3851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2240" y="2203704"/>
            <a:ext cx="493776" cy="493776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30428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01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159752" y="214884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加快資訊供應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159752" y="2542032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9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可依設定自動啟動產情，減少人工等待與交接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" y="3300984"/>
            <a:ext cx="5321808" cy="1124712"/>
          </a:xfrm>
          <a:prstGeom prst="roundRect">
            <a:avLst>
              <a:gd name="adj" fmla="val 12195"/>
            </a:avLst>
          </a:prstGeom>
          <a:solidFill>
            <a:srgbClr val="1D3851"/>
          </a:solidFill>
          <a:ln w="12700">
            <a:solidFill>
              <a:srgbClr val="1D385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3575304"/>
            <a:ext cx="493776" cy="493776"/>
          </a:xfrm>
          <a:prstGeom prst="ellipse">
            <a:avLst/>
          </a:prstGeom>
          <a:solidFill>
            <a:srgbClr val="13B7A6"/>
          </a:solidFill>
          <a:ln w="12700">
            <a:solidFill>
              <a:srgbClr val="13B7A6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7824" y="367588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01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545336" y="352044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降低作業錯誤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45336" y="3913632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9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版本綁定、重試安全與權限阻擋降低誤執行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81928" y="3300984"/>
            <a:ext cx="5321808" cy="1124712"/>
          </a:xfrm>
          <a:prstGeom prst="roundRect">
            <a:avLst>
              <a:gd name="adj" fmla="val 12195"/>
            </a:avLst>
          </a:prstGeom>
          <a:solidFill>
            <a:srgbClr val="1D3851"/>
          </a:solidFill>
          <a:ln w="12700">
            <a:solidFill>
              <a:srgbClr val="1D3851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3575304"/>
            <a:ext cx="493776" cy="493776"/>
          </a:xfrm>
          <a:prstGeom prst="ellipse">
            <a:avLst/>
          </a:prstGeom>
          <a:solidFill>
            <a:srgbClr val="F2BB63"/>
          </a:solidFill>
          <a:ln w="12700">
            <a:solidFill>
              <a:srgbClr val="F2BB63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3675888"/>
            <a:ext cx="493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101F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59752" y="3520440"/>
            <a:ext cx="4142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提升管理能見度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159752" y="3913632"/>
            <a:ext cx="4096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C9D9E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看得到任務量、成功率、失敗原因、產出歷史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" y="4974336"/>
            <a:ext cx="10817352" cy="676656"/>
          </a:xfrm>
          <a:prstGeom prst="roundRect">
            <a:avLst>
              <a:gd name="adj" fmla="val 20270"/>
            </a:avLst>
          </a:prstGeom>
          <a:solidFill>
            <a:srgbClr val="173B43"/>
          </a:solidFill>
          <a:ln w="12700">
            <a:solidFill>
              <a:srgbClr val="173B43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1832" y="5148072"/>
            <a:ext cx="10323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E1F4E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建議追蹤 KPI：人工提問次數、單次產情耗時、按期交付率、成功率、報告可追溯率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5925312"/>
            <a:ext cx="10643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一句話結論：後端整合已有具體成果；下一個價值轉折點，是正式 API + 操作介面 + 真實環境通過。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501384"/>
            <a:ext cx="11055096" cy="0"/>
          </a:xfrm>
          <a:prstGeom prst="line">
            <a:avLst/>
          </a:prstGeom>
          <a:noFill/>
          <a:ln w="8890">
            <a:solidFill>
              <a:srgbClr val="DEE7EF"/>
            </a:solidFill>
            <a:prstDash val="solid"/>
            <a:headEnd type="none"/>
            <a:tailEnd type="none"/>
          </a:ln>
        </p:spPr>
      </p:sp>
      <p:sp>
        <p:nvSpPr>
          <p:cNvPr id="3" name="Text 1"/>
          <p:cNvSpPr txBox="1"/>
          <p:nvPr/>
        </p:nvSpPr>
        <p:spPr>
          <a:xfrm>
            <a:off x="594360" y="65653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SRAF｜Excel 要項 × 自動排程產情   •   2026.10.12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1183112" y="6556248"/>
            <a:ext cx="429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850" dirty="0">
                <a:solidFill>
                  <a:srgbClr val="8094A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329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00" kern="0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附錄｜資料依據與狀態定義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694944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本簡報採用的工程事實，均以目前 Hosted GitHub 為主要依據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1316736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0758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主管閱讀時，可將「合併 main」「審查中」「尚待驗收」視為三個不同的狀態。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783080"/>
            <a:ext cx="10762488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23544" y="1901952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近期 Product 設計與執行</a:t>
            </a:r>
            <a:endParaRPr lang="en-US" sz="1300" dirty="0"/>
          </a:p>
        </p:txBody>
      </p:sp>
      <p:sp>
        <p:nvSpPr>
          <p:cNvPr id="10" name="Text 8">
            <a:hlinkClick r:id="rId1" tooltip=""/>
          </p:cNvPr>
          <p:cNvSpPr txBox="1"/>
          <p:nvPr/>
        </p:nvSpPr>
        <p:spPr>
          <a:xfrm>
            <a:off x="3337560" y="1892808"/>
            <a:ext cx="7799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u="sng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 #277–#286：設計、資料結構、任務建立、版本、授權保護。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192938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569464"/>
            <a:ext cx="10762488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" y="2688336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目前待修與合併</a:t>
            </a:r>
            <a:endParaRPr lang="en-US" sz="1300" dirty="0"/>
          </a:p>
        </p:txBody>
      </p:sp>
      <p:sp>
        <p:nvSpPr>
          <p:cNvPr id="14" name="Text 12">
            <a:hlinkClick r:id="rId2" tooltip=""/>
          </p:cNvPr>
          <p:cNvSpPr txBox="1"/>
          <p:nvPr/>
        </p:nvSpPr>
        <p:spPr>
          <a:xfrm>
            <a:off x="3337560" y="2679192"/>
            <a:ext cx="7799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u="sng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 #287：Requirement Product input replacement snapshot CAS。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0" y="27157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355848"/>
            <a:ext cx="10762488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" y="3474720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正式設計規格</a:t>
            </a:r>
            <a:endParaRPr lang="en-US" sz="1300" dirty="0"/>
          </a:p>
        </p:txBody>
      </p:sp>
      <p:sp>
        <p:nvSpPr>
          <p:cNvPr id="18" name="Text 16">
            <a:hlinkClick r:id="rId3" tooltip=""/>
          </p:cNvPr>
          <p:cNvSpPr txBox="1"/>
          <p:nvPr/>
        </p:nvSpPr>
        <p:spPr>
          <a:xfrm>
            <a:off x="3337560" y="3465576"/>
            <a:ext cx="7799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u="sng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API + Task Center Design v1（2026-10-01）。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0" y="3502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142232"/>
            <a:ext cx="10762488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3544" y="4261104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分階段計畫</a:t>
            </a:r>
            <a:endParaRPr lang="en-US" sz="1300" dirty="0"/>
          </a:p>
        </p:txBody>
      </p:sp>
      <p:sp>
        <p:nvSpPr>
          <p:cNvPr id="22" name="Text 20">
            <a:hlinkClick r:id="rId4" tooltip=""/>
          </p:cNvPr>
          <p:cNvSpPr txBox="1"/>
          <p:nvPr/>
        </p:nvSpPr>
        <p:spPr>
          <a:xfrm>
            <a:off x="3337560" y="4251960"/>
            <a:ext cx="7799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u="sng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Product Implementation Plan v1：Gate P1–P8。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428853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928616"/>
            <a:ext cx="10762488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3544" y="5047488"/>
            <a:ext cx="2350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87E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部署尚待結案事項</a:t>
            </a:r>
            <a:endParaRPr lang="en-US" sz="1300" dirty="0"/>
          </a:p>
        </p:txBody>
      </p:sp>
      <p:sp>
        <p:nvSpPr>
          <p:cNvPr id="26" name="Text 24">
            <a:hlinkClick r:id="rId5" tooltip=""/>
          </p:cNvPr>
          <p:cNvSpPr txBox="1"/>
          <p:nvPr/>
        </p:nvSpPr>
        <p:spPr>
          <a:xfrm>
            <a:off x="3337560" y="5038344"/>
            <a:ext cx="77998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50" u="sng" dirty="0">
                <a:solidFill>
                  <a:srgbClr val="1930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 .codex/known_issues.md：live ES、SQL、worker、UI E2E。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50749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97AB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40664" y="5998464"/>
            <a:ext cx="10634472" cy="301752"/>
          </a:xfrm>
          <a:prstGeom prst="roundRect">
            <a:avLst>
              <a:gd name="adj" fmla="val 24242"/>
            </a:avLst>
          </a:prstGeom>
          <a:solidFill>
            <a:srgbClr val="FFF5E4"/>
          </a:solidFill>
          <a:ln w="12700">
            <a:solidFill>
              <a:srgbClr val="FFF5E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3544" y="6062472"/>
            <a:ext cx="10296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40" dirty="0">
                <a:solidFill>
                  <a:srgbClr val="8867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註：GitHub repository 為 private；文件連結須具相應存取權限。內容反映 2026-10-12 的查詢結果。</a:t>
            </a:r>
            <a:endParaRPr lang="en-US" sz="10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內部工作提報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SRAF｜從 OpenWebUI 人工查詢到 Excel 排程自動產情｜工作進度提報</dc:title>
  <dc:subject>SRAF 從人工 OpenWebUI 問答到 Excel 驅動的自動化產情：成果與規劃</dc:subject>
  <dc:creator>SRAF 專案工作進度整理</dc:creator>
  <cp:lastModifiedBy>SRAF 專案工作進度整理</cp:lastModifiedBy>
  <cp:revision>1</cp:revision>
  <dcterms:created xsi:type="dcterms:W3CDTF">2026-10-12T02:23:31Z</dcterms:created>
  <dcterms:modified xsi:type="dcterms:W3CDTF">2026-10-12T02:23:31Z</dcterms:modified>
</cp:coreProperties>
</file>